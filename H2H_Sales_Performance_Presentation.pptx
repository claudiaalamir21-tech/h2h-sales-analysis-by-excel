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F2AA84"/>
            </a:solidFill>
            <a:effectLst/>
          </c:spPr>
          <c:invertIfNegative val="0"/>
          <c:dLbls>
            <c:numFmt formatCode="&quot;$&quot;0.0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B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A8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2B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2B3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AA8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2011*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2014*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8.7</c:v>
                </c:pt>
                <c:pt idx="2">
                  <c:v>16.2</c:v>
                </c:pt>
                <c:pt idx="3">
                  <c:v>7.2</c:v>
                </c:pt>
              </c:numCache>
            </c:numRef>
          </c:val>
        </c:ser>
        <c:dLbls>
          <c:numFmt formatCode="&quot;$&quot;0.0&quot;M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62B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B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"/>
          <c:min val="0"/>
        </c:scaling>
        <c:delete val="0"/>
        <c:axPos val="l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&quot;$&quot;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Sales %</c:v>
                </c:pt>
              </c:strCache>
            </c:strRef>
          </c:tx>
          <c:spPr>
            <a:solidFill>
              <a:srgbClr val="F2AA8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B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A8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2B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2B3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2B3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Bikes</c:v>
                  </c:pt>
                  <c:pt idx="1">
                    <c:v>Components</c:v>
                  </c:pt>
                  <c:pt idx="2">
                    <c:v>Clothing</c:v>
                  </c:pt>
                  <c:pt idx="3">
                    <c:v>Accessories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80.6</c:v>
                </c:pt>
                <c:pt idx="1">
                  <c:v>16</c:v>
                </c:pt>
                <c:pt idx="2">
                  <c:v>2.5</c:v>
                </c:pt>
                <c:pt idx="3">
                  <c:v>0.9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62B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2B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0"/>
        </c:scaling>
        <c:delete val="0"/>
        <c:axPos val="b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62B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B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2B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2B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2B3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AA8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2AA8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2AA8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Approved</c:v>
                  </c:pt>
                  <c:pt idx="1">
                    <c:v>In process</c:v>
                  </c:pt>
                  <c:pt idx="2">
                    <c:v>Shipped</c:v>
                  </c:pt>
                  <c:pt idx="3">
                    <c:v>Cancelled</c:v>
                  </c:pt>
                  <c:pt idx="4">
                    <c:v>Rejected</c:v>
                  </c:pt>
                  <c:pt idx="5">
                    <c:v>Backordered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396</c:v>
                </c:pt>
                <c:pt idx="1">
                  <c:v>392</c:v>
                </c:pt>
                <c:pt idx="2">
                  <c:v>374</c:v>
                </c:pt>
                <c:pt idx="3">
                  <c:v>137</c:v>
                </c:pt>
                <c:pt idx="4">
                  <c:v>117</c:v>
                </c:pt>
                <c:pt idx="5">
                  <c:v>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B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B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0"/>
          <c:min val="0"/>
        </c:scaling>
        <c:delete val="0"/>
        <c:axPos val="l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F2AA84"/>
            </a:solidFill>
            <a:effectLst/>
          </c:spPr>
          <c:invertIfNegative val="0"/>
          <c:dLbls>
            <c:numFmt formatCode="&quot;$&quot;0.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B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A8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A8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A8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2B3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62B3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62B3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62B3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62B3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62B32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62B32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Noah Bennett</c:v>
                  </c:pt>
                  <c:pt idx="1">
                    <c:v>Ethan Parker</c:v>
                  </c:pt>
                  <c:pt idx="2">
                    <c:v>Lucas Morgan</c:v>
                  </c:pt>
                  <c:pt idx="3">
                    <c:v>Liam Carter</c:v>
                  </c:pt>
                  <c:pt idx="4">
                    <c:v>Mason Brooks</c:v>
                  </c:pt>
                  <c:pt idx="5">
                    <c:v>Dylan Foster</c:v>
                  </c:pt>
                  <c:pt idx="6">
                    <c:v>Ryan Cooper</c:v>
                  </c:pt>
                  <c:pt idx="7">
                    <c:v>Daniel Collins</c:v>
                  </c:pt>
                  <c:pt idx="8">
                    <c:v>Oliver Hayes</c:v>
                  </c:pt>
                  <c:pt idx="9">
                    <c:v>Alex Turner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9.6</c:v>
                </c:pt>
                <c:pt idx="1">
                  <c:v>6.7</c:v>
                </c:pt>
                <c:pt idx="2">
                  <c:v>5.1</c:v>
                </c:pt>
                <c:pt idx="3">
                  <c:v>4.2</c:v>
                </c:pt>
                <c:pt idx="4">
                  <c:v>2.6</c:v>
                </c:pt>
                <c:pt idx="5">
                  <c:v>2.1</c:v>
                </c:pt>
                <c:pt idx="6">
                  <c:v>1.6</c:v>
                </c:pt>
                <c:pt idx="7">
                  <c:v>1.1</c:v>
                </c:pt>
                <c:pt idx="8">
                  <c:v>0.8</c:v>
                </c:pt>
                <c:pt idx="9">
                  <c:v>0.2</c:v>
                </c:pt>
              </c:numCache>
            </c:numRef>
          </c:val>
        </c:ser>
        <c:dLbls>
          <c:numFmt formatCode="&quot;$&quot;0.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62B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B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0"/>
        <c:axPos val="b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&quot;$&quot;0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C384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2748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A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H2H SALES &amp; MARKETING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23774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2011 – May 2014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4709160"/>
            <a:ext cx="1097280" cy="0"/>
          </a:xfrm>
          <a:prstGeom prst="line">
            <a:avLst/>
          </a:prstGeom>
          <a:noFill/>
          <a:ln w="31750">
            <a:solidFill>
              <a:srgbClr val="F2AA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Executive Review  •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years of strong growth — with three concentrated risks worth acting 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741932" cy="1234440"/>
          </a:xfrm>
          <a:prstGeom prst="roundRect">
            <a:avLst>
              <a:gd name="adj" fmla="val 5926"/>
            </a:avLst>
          </a:prstGeom>
          <a:solidFill>
            <a:srgbClr val="1F3A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527048"/>
            <a:ext cx="1650492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$34.15M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267712"/>
            <a:ext cx="165049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63724" y="1417320"/>
            <a:ext cx="1741932" cy="1234440"/>
          </a:xfrm>
          <a:prstGeom prst="roundRect">
            <a:avLst>
              <a:gd name="adj" fmla="val 5926"/>
            </a:avLst>
          </a:prstGeom>
          <a:solidFill>
            <a:srgbClr val="1F3A4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09444" y="1527048"/>
            <a:ext cx="1650492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$30.31M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409444" y="2267712"/>
            <a:ext cx="165049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0248" y="1417320"/>
            <a:ext cx="1741932" cy="1234440"/>
          </a:xfrm>
          <a:prstGeom prst="roundRect">
            <a:avLst>
              <a:gd name="adj" fmla="val 5926"/>
            </a:avLst>
          </a:prstGeom>
          <a:solidFill>
            <a:srgbClr val="1F3A4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15968" y="1527048"/>
            <a:ext cx="1650492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1,465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315968" y="2267712"/>
            <a:ext cx="165049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6772" y="1417320"/>
            <a:ext cx="1741932" cy="1234440"/>
          </a:xfrm>
          <a:prstGeom prst="roundRect">
            <a:avLst>
              <a:gd name="adj" fmla="val 5926"/>
            </a:avLst>
          </a:prstGeom>
          <a:solidFill>
            <a:srgbClr val="1F3A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22492" y="1527048"/>
            <a:ext cx="1650492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85,866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222492" y="2267712"/>
            <a:ext cx="165049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83296" y="1417320"/>
            <a:ext cx="1741932" cy="1234440"/>
          </a:xfrm>
          <a:prstGeom prst="roundRect">
            <a:avLst>
              <a:gd name="adj" fmla="val 5926"/>
            </a:avLst>
          </a:prstGeom>
          <a:solidFill>
            <a:srgbClr val="1F3A4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29016" y="1527048"/>
            <a:ext cx="1650492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129016" y="2267712"/>
            <a:ext cx="165049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989820" y="1417320"/>
            <a:ext cx="1741932" cy="1234440"/>
          </a:xfrm>
          <a:prstGeom prst="roundRect">
            <a:avLst>
              <a:gd name="adj" fmla="val 5926"/>
            </a:avLst>
          </a:prstGeom>
          <a:solidFill>
            <a:srgbClr val="1F3A4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35540" y="1527048"/>
            <a:ext cx="1650492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$23.3K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035540" y="2267712"/>
            <a:ext cx="165049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54406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71800"/>
            <a:ext cx="5440680" cy="457200"/>
          </a:xfrm>
          <a:prstGeom prst="rect">
            <a:avLst/>
          </a:prstGeom>
          <a:solidFill>
            <a:srgbClr val="162B3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297180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WORKING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" y="3611880"/>
            <a:ext cx="292608" cy="292608"/>
          </a:xfrm>
          <a:prstGeom prst="ellipse">
            <a:avLst/>
          </a:prstGeom>
          <a:solidFill>
            <a:srgbClr val="3D7A5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" y="3611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3557016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sustained growth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383133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86% from 2012 ($8.7M) to 2013 ($16.2M) — the two full comparable years on record.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" y="4480560"/>
            <a:ext cx="292608" cy="292608"/>
          </a:xfrm>
          <a:prstGeom prst="ellipse">
            <a:avLst/>
          </a:prstGeom>
          <a:solidFill>
            <a:srgbClr val="3D7A5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8368" y="4480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4425696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international reach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" y="470001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markets across North America, Europe &amp; Pacific. Canada, Northwest, France &amp; the UK lead.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" y="5349240"/>
            <a:ext cx="292608" cy="292608"/>
          </a:xfrm>
          <a:prstGeom prst="ellipse">
            <a:avLst/>
          </a:prstGeom>
          <a:solidFill>
            <a:srgbClr val="3D7A5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5349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1097280" y="5294376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capable core sales team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097280" y="556869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reps alone drive nearly two-thirds of all revenue, with strong, consistent output.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2971800"/>
            <a:ext cx="54406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2971800"/>
            <a:ext cx="5440680" cy="457200"/>
          </a:xfrm>
          <a:prstGeom prst="rect">
            <a:avLst/>
          </a:prstGeom>
          <a:solidFill>
            <a:srgbClr val="D9845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263640" y="297180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64808" y="3611880"/>
            <a:ext cx="292608" cy="292608"/>
          </a:xfrm>
          <a:prstGeom prst="ellipse">
            <a:avLst/>
          </a:prstGeom>
          <a:solidFill>
            <a:srgbClr val="D9845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64808" y="3611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6903720" y="3557016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are 80.6% of all sales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903720" y="383133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Clothing &amp; Accessories combined make up just 19% — a concentration risk.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64808" y="4480560"/>
            <a:ext cx="292608" cy="292608"/>
          </a:xfrm>
          <a:prstGeom prst="ellipse">
            <a:avLst/>
          </a:prstGeom>
          <a:solidFill>
            <a:srgbClr val="D9845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464808" y="4480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46" name="Text 44"/>
          <p:cNvSpPr txBox="1"/>
          <p:nvPr/>
        </p:nvSpPr>
        <p:spPr>
          <a:xfrm>
            <a:off x="6903720" y="4425696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5 orders doesn't complete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903720" y="470001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 orders (20.7%) end up Cancelled, Rejected, or Backordered — $8.2M in sales value tied up.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64808" y="5349240"/>
            <a:ext cx="292608" cy="292608"/>
          </a:xfrm>
          <a:prstGeom prst="ellipse">
            <a:avLst/>
          </a:prstGeom>
          <a:solidFill>
            <a:srgbClr val="D98456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464808" y="5349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50" name="Text 48"/>
          <p:cNvSpPr txBox="1"/>
          <p:nvPr/>
        </p:nvSpPr>
        <p:spPr>
          <a:xfrm>
            <a:off x="6903720" y="5294376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puzzling gap in early 2014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903720" y="556869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&amp; Apr 2014 show almost no recorded sales between two strong months — needs investigating.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H2H SALES &amp; MARKETING  |  SALES PERFORMANCE REVIEW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Growth, With One Odd Gap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climbed steadily through 2013 — but two months in 2014 look broken.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9494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7150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*2011 starts in May; 2014 data ends in May — both are partial years, not full-year comparisons.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818120" y="14630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162B3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63840" y="157276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+86%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4505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growth, 2012 → 2013 (full years)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818120" y="2971800"/>
            <a:ext cx="3931920" cy="3017520"/>
          </a:xfrm>
          <a:prstGeom prst="roundRect">
            <a:avLst>
              <a:gd name="adj" fmla="val 1818"/>
            </a:avLst>
          </a:prstGeom>
          <a:solidFill>
            <a:srgbClr val="F2AA8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1272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 TO INVESTIGATE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&amp; Apr 2014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3840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months show under $4K in sales — each surrounded by months over $1.7M.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46720" y="4572000"/>
            <a:ext cx="3474720" cy="0"/>
          </a:xfrm>
          <a:prstGeom prst="line">
            <a:avLst/>
          </a:prstGeom>
          <a:noFill/>
          <a:ln w="12700">
            <a:solidFill>
              <a:srgbClr val="E0925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46720" y="47091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has the signature of a data or reporting gap rather than a real slowdown — but it should be confirmed before reporting 2014 performance.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H2H SALES &amp; MARKETING  |  SALES PERFORMANCE REVIEW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Category Carries the Business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drive over four-fifths of all sales — everything else is a rounding error by comparison.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463040"/>
            <a:ext cx="4069080" cy="4206240"/>
          </a:xfrm>
          <a:prstGeom prst="roundRect">
            <a:avLst>
              <a:gd name="adj" fmla="val 1348"/>
            </a:avLst>
          </a:prstGeom>
          <a:solidFill>
            <a:srgbClr val="162B3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55280" y="16916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0574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80.6%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26974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sales comes from a single category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955280" y="3337560"/>
            <a:ext cx="3520440" cy="0"/>
          </a:xfrm>
          <a:prstGeom prst="line">
            <a:avLst/>
          </a:prstGeom>
          <a:noFill/>
          <a:ln w="12700">
            <a:solidFill>
              <a:srgbClr val="3A576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3520440"/>
            <a:ext cx="3520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downturn in bike demand, a supplier issue, or new competition in that single category would hit total revenue almost directly — there's little from other categories to cushion the blow.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84632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2A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is the clearest near-term opportunity — already a proven $5.5M line with room to grow.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H2H SALES &amp; MARKETING  |  SALES PERFORMANCE REVIEW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Genuinely International Business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span 8 markets across 3 regions — four cities anchor most of the revenue.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24328" cy="3108960"/>
          </a:xfrm>
          <a:prstGeom prst="roundRect">
            <a:avLst>
              <a:gd name="adj" fmla="val 2091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2624328" cy="502920"/>
          </a:xfrm>
          <a:prstGeom prst="rect">
            <a:avLst/>
          </a:prstGeom>
          <a:solidFill>
            <a:srgbClr val="162B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600200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40280"/>
            <a:ext cx="2624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51760"/>
            <a:ext cx="2624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8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$12.0M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91840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3703320"/>
            <a:ext cx="1709928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840480"/>
            <a:ext cx="262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35.1% of total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64408" y="1600200"/>
            <a:ext cx="2624328" cy="3108960"/>
          </a:xfrm>
          <a:prstGeom prst="roundRect">
            <a:avLst>
              <a:gd name="adj" fmla="val 2091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1600200"/>
            <a:ext cx="2624328" cy="502920"/>
          </a:xfrm>
          <a:prstGeom prst="rect">
            <a:avLst/>
          </a:prstGeom>
          <a:solidFill>
            <a:srgbClr val="162B3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64408" y="1600200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264408" y="2240280"/>
            <a:ext cx="2624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64408" y="2651760"/>
            <a:ext cx="2624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8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$7.0M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3264408" y="3291840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21608" y="3703320"/>
            <a:ext cx="1709928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64408" y="3840480"/>
            <a:ext cx="262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20.4% of total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71616" y="1600200"/>
            <a:ext cx="2624328" cy="3108960"/>
          </a:xfrm>
          <a:prstGeom prst="roundRect">
            <a:avLst>
              <a:gd name="adj" fmla="val 2091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71616" y="1600200"/>
            <a:ext cx="2624328" cy="502920"/>
          </a:xfrm>
          <a:prstGeom prst="rect">
            <a:avLst/>
          </a:prstGeom>
          <a:solidFill>
            <a:srgbClr val="162B3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071616" y="1600200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071616" y="2240280"/>
            <a:ext cx="2624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071616" y="2651760"/>
            <a:ext cx="2624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8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$5.2M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071616" y="3291840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28816" y="3703320"/>
            <a:ext cx="1709928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71616" y="3840480"/>
            <a:ext cx="262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15.3% of total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878824" y="1600200"/>
            <a:ext cx="2624328" cy="3108960"/>
          </a:xfrm>
          <a:prstGeom prst="roundRect">
            <a:avLst>
              <a:gd name="adj" fmla="val 2091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8824" y="1600200"/>
            <a:ext cx="2624328" cy="502920"/>
          </a:xfrm>
          <a:prstGeom prst="rect">
            <a:avLst/>
          </a:prstGeom>
          <a:solidFill>
            <a:srgbClr val="162B3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878824" y="1600200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878824" y="2240280"/>
            <a:ext cx="2624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878824" y="2651760"/>
            <a:ext cx="2624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8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$4.9M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8878824" y="3291840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sales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336024" y="3703320"/>
            <a:ext cx="1709928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878824" y="3840480"/>
            <a:ext cx="262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 of total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4937760"/>
            <a:ext cx="11274552" cy="1143000"/>
          </a:xfrm>
          <a:prstGeom prst="roundRect">
            <a:avLst>
              <a:gd name="adj" fmla="val 4800"/>
            </a:avLst>
          </a:prstGeom>
          <a:solidFill>
            <a:srgbClr val="162B32"/>
          </a:solidFill>
          <a:ln/>
        </p:spPr>
      </p:sp>
      <p:sp>
        <p:nvSpPr>
          <p:cNvPr id="37" name="Shape 35"/>
          <p:cNvSpPr/>
          <p:nvPr/>
        </p:nvSpPr>
        <p:spPr>
          <a:xfrm>
            <a:off x="713232" y="5175504"/>
            <a:ext cx="438912" cy="438912"/>
          </a:xfrm>
          <a:prstGeom prst="ellipse">
            <a:avLst/>
          </a:prstGeom>
          <a:solidFill>
            <a:srgbClr val="D9845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13232" y="5175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371600" y="493776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four markets generate 85% of all revenue — Germany and Australia add further diversification, while Southwest and Central remain untapped.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H2H SALES &amp; MARKETING  |  SALES PERFORMANCE REVIEW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5 Orders Doesn't Complete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Cancelled, Rejected, and Backordered orders represent real, recoverable revenue.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70408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6304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D9845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863840" y="157276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$8.24M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8163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value tied up in incomplete orders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818120" y="3337560"/>
            <a:ext cx="3931920" cy="1874520"/>
          </a:xfrm>
          <a:prstGeom prst="roundRect">
            <a:avLst>
              <a:gd name="adj" fmla="val 2927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34930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379476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24% of total sales value sitting in orders that never converted cleanly. Even recovering a third of it would be a meaningful revenue lift with no new customers needed.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H2H SALES &amp; MARKETING  |  SALES PERFORMANCE REVIEW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Leans Heavily on 3 Reps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Noah Bennett, Ethan Parker, and Lucas Morgan generate nearly two-thirds of all sales.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7040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630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162B3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863840" y="157276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4505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revenue from the top 3 reps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818120" y="29718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D9845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63840" y="308152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39593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revenue from the bottom 3 reps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818120" y="4480560"/>
            <a:ext cx="3931920" cy="1554480"/>
          </a:xfrm>
          <a:prstGeom prst="roundRect">
            <a:avLst>
              <a:gd name="adj" fmla="val 3529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0" y="4645152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wide, not just a normal spread — it points to specific practices worth studying and spreading across the team.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H2H SALES &amp; MARKETING  |  SALES PERFORMANCE REVIEW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targeted moves to reduce risk and unlock revenue already in the pipeline.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40680" cy="2331720"/>
          </a:xfrm>
          <a:prstGeom prst="roundRect">
            <a:avLst>
              <a:gd name="adj" fmla="val 2353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D9845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1907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beyond Bikes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2316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active growth targets for Components, Clothing, and Accessories — this is the single highest-leverage fix for concentration risk.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440680" cy="2331720"/>
          </a:xfrm>
          <a:prstGeom prst="roundRect">
            <a:avLst>
              <a:gd name="adj" fmla="val 2353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737360"/>
            <a:ext cx="502920" cy="502920"/>
          </a:xfrm>
          <a:prstGeom prst="ellipse">
            <a:avLst/>
          </a:prstGeom>
          <a:solidFill>
            <a:srgbClr val="D9845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71907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the 20.7% order failure rate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42316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why orders end up Cancelled, Rejected, or Backordered. Likely candidates: inventory availability or the approval workflow. $8.2M in sales value is at stake.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5440680" cy="2331720"/>
          </a:xfrm>
          <a:prstGeom prst="roundRect">
            <a:avLst>
              <a:gd name="adj" fmla="val 2353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343400"/>
            <a:ext cx="502920" cy="502920"/>
          </a:xfrm>
          <a:prstGeom prst="ellipse">
            <a:avLst/>
          </a:prstGeom>
          <a:solidFill>
            <a:srgbClr val="D9845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32511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Feb/Apr 2014 data gap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02920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immediately before drawing conclusions about 2014 momentum — this looks like a reporting gap, not a real slowdown.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069080"/>
            <a:ext cx="5440680" cy="2331720"/>
          </a:xfrm>
          <a:prstGeom prst="roundRect">
            <a:avLst>
              <a:gd name="adj" fmla="val 2353"/>
            </a:avLst>
          </a:prstGeom>
          <a:solidFill>
            <a:srgbClr val="F5F5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343400"/>
            <a:ext cx="502920" cy="502920"/>
          </a:xfrm>
          <a:prstGeom prst="ellipse">
            <a:avLst/>
          </a:prstGeom>
          <a:solidFill>
            <a:srgbClr val="D9845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32511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top-rep practices team-wide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502920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what Noah Bennett, Ethan Parker, and Lucas Morgan do well into coaching for the rest of the team to close the performance gap.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H2H SALES &amp; MARKETING  |  SALES PERFORMANCE REVIEW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C38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103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Bottom Line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880360"/>
            <a:ext cx="8869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real and the customer base is genuinely global. The next gain doesn't require new markets — it's in diversifying the product mix, fixing the order pipeline, and confirming what happened in early 2014.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4251960"/>
            <a:ext cx="1097280" cy="0"/>
          </a:xfrm>
          <a:prstGeom prst="line">
            <a:avLst/>
          </a:prstGeom>
          <a:noFill/>
          <a:ln w="31750">
            <a:solidFill>
              <a:srgbClr val="F2AA8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434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H2H SALES &amp; MARKETING  |  SALES PERFORMANCE REVIEW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2026-08-29T15:17:33Z</dcterms:created>
  <dcterms:modified xsi:type="dcterms:W3CDTF">2026-08-29T15:17:33Z</dcterms:modified>
</cp:coreProperties>
</file>